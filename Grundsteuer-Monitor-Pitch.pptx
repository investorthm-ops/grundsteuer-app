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F2E"/>
          </a:solidFill>
          <a:ln w="12700">
            <a:solidFill>
              <a:srgbClr val="0A1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PITCH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Grundsteuer-Monitor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11.000+ deutschen Hebesätze.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Abo. Aktuell. Verlässlich.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114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8C0"/>
                </a:solidFill>
              </a:rPr>
              <a:t>Markus  |  SAP PP Consultant &amp; Gründer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März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1463040"/>
            <a:ext cx="1554480" cy="155448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463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📊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DAS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Grundsteuerreform 2025: Chaos in 11.000 Kommunen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920240"/>
            <a:ext cx="594360" cy="59436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Keine zentrale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Datenbank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21284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Jede Kommune veröffentlicht Hebesätze separat — oft nur als PDF oder Pressemitteilung.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920240"/>
            <a:ext cx="594360" cy="59436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Manueller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Recherche-Aufwand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21284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Steuerberater und Immobilienprofis verbringen Stunden mit Datensuche statt Analyse.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246120"/>
            <a:ext cx="594360" cy="59436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Veraltete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53872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Bestehende Tools aktualisieren selten — Entscheidungen basieren auf falschen Werten.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246120"/>
            <a:ext cx="594360" cy="59436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Hohe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Beratungskosten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538728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Unternehmen mit vielen Objekten zahlen für manuelle Recherchen fünfstellige Beträge.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Seit Januar 2025 gilt die neue Grundsteuer — doch verlässliche Hebesatz-Daten fehlen am Markt komplett.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DIE LÖSUNG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</a:rPr>
              <a:t>Grundsteuer-Monitor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C8C0"/>
                </a:solidFill>
              </a:rPr>
              <a:t>Der erste vollautomatische Echtzeit-Feed für alle deutschen Grundsteuer-Hebesätze.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265176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286000"/>
            <a:ext cx="265176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395728"/>
            <a:ext cx="804672" cy="804672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957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Automatisiert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C0"/>
                </a:solidFill>
              </a:rPr>
              <a:t>Python-Scraper + KI-Bereinigung läuft 24/7 auf Mac Mini M4 — keine manuelle Pflege nötig.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265176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286000"/>
            <a:ext cx="265176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395728"/>
            <a:ext cx="804672" cy="804672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3957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Vollständig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71246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C0"/>
                </a:solidFill>
              </a:rPr>
              <a:t>Alle 16 Bundesländer, 11.000+ Kommunen. Historische Entwicklung ab 2022 inklusive.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65176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86000"/>
            <a:ext cx="265176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395728"/>
            <a:ext cx="804672" cy="804672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3957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Sofort nutzbar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71246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C0"/>
                </a:solidFill>
              </a:rPr>
              <a:t>Lieferung per Google Sheets (API) oder CSV-Export — passt in jeden bestehenden Workflow.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Kein Konkurrenzprodukt mit dieser Datentiefe existiert am deutschen Markt.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MARKT &amp; ZIELGRUPPE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Drei klare Käufersegmente mit hoher Zahlungsbereitschaft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2651760" cy="109728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01368"/>
            <a:ext cx="804672" cy="804672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0136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Steuerberater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~100.000 in Deutschland. Beraten Mandanten bei Grundsteuer-Optimierung — brauchen Vergleichsdaten täglich.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977640"/>
            <a:ext cx="2103120" cy="274320"/>
          </a:xfrm>
          <a:prstGeom prst="rect">
            <a:avLst/>
          </a:prstGeom>
          <a:solidFill>
            <a:srgbClr val="E8F4F1"/>
          </a:solidFill>
          <a:ln w="12700">
            <a:solidFill>
              <a:srgbClr val="C1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B6C"/>
                </a:solidFill>
              </a:rPr>
              <a:t>49–149 €/Mo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45920"/>
            <a:ext cx="2651760" cy="109728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01368"/>
            <a:ext cx="804672" cy="804672"/>
          </a:xfrm>
          <a:prstGeom prst="ellipse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80136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Hausverwaltungen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1455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Verwalten große Portfolios. Jede Rechnung basiert auf Hebesatz. Fehler = Haftungsrisiko.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3977640"/>
            <a:ext cx="2103120" cy="274320"/>
          </a:xfrm>
          <a:prstGeom prst="rect">
            <a:avLst/>
          </a:prstGeom>
          <a:solidFill>
            <a:srgbClr val="E8F4F1"/>
          </a:solidFill>
          <a:ln w="12700">
            <a:solidFill>
              <a:srgbClr val="C1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B6C"/>
                </a:solidFill>
              </a:rPr>
              <a:t>149 €/Mo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6459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645920"/>
            <a:ext cx="265176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801368"/>
            <a:ext cx="804672" cy="8046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80136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🏘️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63640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Immobilienmakler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&amp; Investoren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1455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Lage-Analyse vor Kauf. Grundsteuer-Delta zwischen Kommunen ist Kaufentscheidungsfaktor.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3977640"/>
            <a:ext cx="2103120" cy="274320"/>
          </a:xfrm>
          <a:prstGeom prst="rect">
            <a:avLst/>
          </a:prstGeom>
          <a:solidFill>
            <a:srgbClr val="E8F4F1"/>
          </a:solidFill>
          <a:ln w="12700">
            <a:solidFill>
              <a:srgbClr val="C1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B6C"/>
                </a:solidFill>
              </a:rPr>
              <a:t>149–499 €/Mo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8C0"/>
                </a:solidFill>
              </a:rPr>
              <a:t>Adressierbarer Markt: </a:t>
            </a:r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~180.000 potenzielle Nutzer</a:t>
            </a:r>
            <a:pPr algn="ctr" indent="0" marL="0">
              <a:buNone/>
            </a:pPr>
            <a:r>
              <a:rPr lang="en-US" sz="1200" dirty="0">
                <a:solidFill>
                  <a:srgbClr val="9EC8C0"/>
                </a:solidFill>
              </a:rPr>
              <a:t>  |  Marktpotenzial: </a:t>
            </a:r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&gt;8 Mio. €/Jahr ARR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TECHNOLOGIE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Vollautomatische Pipeline auf Mac Mini M4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76272" y="1993392"/>
            <a:ext cx="27432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1874520" cy="2240280"/>
          </a:xfrm>
          <a:prstGeom prst="rect">
            <a:avLst/>
          </a:prstGeom>
          <a:solidFill>
            <a:srgbClr val="0D2237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685800" cy="68580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Web-Scraper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Python + BeautifulSoup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A8"/>
                </a:solidFill>
              </a:rPr>
              <a:t>11.000+ Quellen automatisch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1993392"/>
            <a:ext cx="27432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508760"/>
            <a:ext cx="1874520" cy="2240280"/>
          </a:xfrm>
          <a:prstGeom prst="rect">
            <a:avLst/>
          </a:prstGeom>
          <a:solidFill>
            <a:srgbClr val="0D2237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4952" y="1417320"/>
            <a:ext cx="685800" cy="68580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KI-Reinigung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2697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Ollama + Mistral 7B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3063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A8"/>
                </a:solidFill>
              </a:rPr>
              <a:t>Lokal, DSGVO-konform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28816" y="1993392"/>
            <a:ext cx="274320" cy="73152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508760"/>
            <a:ext cx="1874520" cy="2240280"/>
          </a:xfrm>
          <a:prstGeom prst="rect">
            <a:avLst/>
          </a:prstGeom>
          <a:solidFill>
            <a:srgbClr val="0D2237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21224" y="1417320"/>
            <a:ext cx="685800" cy="68580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18304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Datenbank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2697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SQLite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18304" y="3063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A8"/>
                </a:solidFill>
              </a:rPr>
              <a:t>Lokal &amp; kostenfrei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03136" y="1508760"/>
            <a:ext cx="1874520" cy="2240280"/>
          </a:xfrm>
          <a:prstGeom prst="rect">
            <a:avLst/>
          </a:prstGeom>
          <a:solidFill>
            <a:srgbClr val="0D2237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7496" y="1417320"/>
            <a:ext cx="685800" cy="68580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94576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94576" y="2697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Google Sheets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30632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A8"/>
                </a:solidFill>
              </a:rPr>
              <a:t>Per Stripe-Abo freigeschaltet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594360"/>
          </a:xfrm>
          <a:prstGeom prst="rect">
            <a:avLst/>
          </a:prstGeom>
          <a:solidFill>
            <a:srgbClr val="091520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31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E8B"/>
                </a:solidFill>
              </a:rPr>
              <a:t>⚙️  Orchestriert via n8n  —  Läuft 24/7 auf Mac Mini M4  —  Vollständig lokal &amp; datenschutzkonform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1874520" cy="4114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~800 €  </a:t>
            </a:r>
            <a:pPr algn="ctr" indent="0" marL="0">
              <a:buNone/>
            </a:pPr>
            <a:r>
              <a:rPr lang="en-US" sz="900" dirty="0">
                <a:solidFill>
                  <a:srgbClr val="C8E8E4"/>
                </a:solidFill>
              </a:rPr>
              <a:t>Kosten Hardware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50592" y="4663440"/>
            <a:ext cx="1874520" cy="4114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0 € lokal  </a:t>
            </a:r>
            <a:pPr algn="ctr" indent="0" marL="0">
              <a:buNone/>
            </a:pPr>
            <a:r>
              <a:rPr lang="en-US" sz="900" dirty="0">
                <a:solidFill>
                  <a:srgbClr val="C8E8E4"/>
                </a:solidFill>
              </a:rPr>
              <a:t>KI-Kosten/Mo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26864" y="4663440"/>
            <a:ext cx="1874520" cy="4114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täglich  </a:t>
            </a:r>
            <a:pPr algn="ctr" indent="0" marL="0">
              <a:buNone/>
            </a:pPr>
            <a:r>
              <a:rPr lang="en-US" sz="900" dirty="0">
                <a:solidFill>
                  <a:srgbClr val="C8E8E4"/>
                </a:solidFill>
              </a:rPr>
              <a:t>Scraper-Intervall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03136" y="4663440"/>
            <a:ext cx="1874520" cy="4114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4663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24/7  </a:t>
            </a:r>
            <a:pPr algn="ctr" indent="0" marL="0">
              <a:buNone/>
            </a:pPr>
            <a:r>
              <a:rPr lang="en-US" sz="900" dirty="0">
                <a:solidFill>
                  <a:srgbClr val="C8E8E4"/>
                </a:solidFill>
              </a:rPr>
              <a:t>Uptime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BUSINESS 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SaaS-Abo mit drei klaren Stufen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109728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A7B6C"/>
                </a:solidFill>
              </a:rPr>
              <a:t>STARTER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€ 49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 Monat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906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1 Bundesland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Google Sheets Feed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Monatliche Updates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E-Mail Support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265176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B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508760"/>
            <a:ext cx="265176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1325880"/>
            <a:ext cx="173736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EMPFOHLEN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D9E8B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€ 149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33756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C0"/>
                </a:solidFill>
              </a:rPr>
              <a:t>pro Monat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999232"/>
            <a:ext cx="2286000" cy="0"/>
          </a:xfrm>
          <a:prstGeom prst="line">
            <a:avLst/>
          </a:prstGeom>
          <a:noFill/>
          <a:ln w="12700">
            <a:solidFill>
              <a:srgbClr val="1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906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8C0"/>
                </a:solidFill>
              </a:rPr>
              <a:t>✓  5 Bundesländer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8C0"/>
                </a:solidFill>
              </a:rPr>
              <a:t>✓  API-Zugang (CSV)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8C0"/>
                </a:solidFill>
              </a:rPr>
              <a:t>✓  Wöchentliche Updates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8C0"/>
                </a:solidFill>
              </a:rPr>
              <a:t>✓  Historische Daten ab 2022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4334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8C0"/>
                </a:solidFill>
              </a:rPr>
              <a:t>✓  Prioritäts-Support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15087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508760"/>
            <a:ext cx="265176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€ 499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26364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 Monat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99923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0906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Alle 16 Bundesländer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Echtzeit-API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7124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Tägliche Updates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White-Label Option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4334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✓  Persönlicher Account Manager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983480"/>
            <a:ext cx="8503920" cy="45720"/>
          </a:xfrm>
          <a:prstGeom prst="rect">
            <a:avLst/>
          </a:prstGeom>
          <a:solidFill>
            <a:srgbClr val="D1E8E4"/>
          </a:solidFill>
          <a:ln w="12700">
            <a:solidFill>
              <a:srgbClr val="D1E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50292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Break-even: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 Starter-Kunden  |  </a:t>
            </a:r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Ziel Jahr 1: 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50 Kunden = 3.500 €/Mo ARR  |  </a:t>
            </a:r>
            <a:pPr algn="ctr" indent="0" marL="0">
              <a:buNone/>
            </a:pPr>
            <a:r>
              <a:rPr lang="en-US" sz="1100" b="1" dirty="0">
                <a:solidFill>
                  <a:srgbClr val="0A7B6C"/>
                </a:solidFill>
              </a:rPr>
              <a:t>Skalierbar auf &gt;20.000 €/Mo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MVP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 Wochen zum ersten zahlenden Kunden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3017520"/>
          </a:xfrm>
          <a:prstGeom prst="rect">
            <a:avLst/>
          </a:prstGeom>
          <a:solidFill>
            <a:srgbClr val="0D1F30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2651760" cy="502920"/>
          </a:xfrm>
          <a:prstGeom prst="rect">
            <a:avLst/>
          </a:prstGeom>
          <a:solidFill>
            <a:srgbClr val="0D9E8B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459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Woche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Pipeline aufbauen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Python-Scraper einrichten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SQLite-Datenbank anlegen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Ollama + Mistral lokal installieren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8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Erste 3 Bundesländer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45920"/>
            <a:ext cx="2651760" cy="3017520"/>
          </a:xfrm>
          <a:prstGeom prst="rect">
            <a:avLst/>
          </a:prstGeom>
          <a:solidFill>
            <a:srgbClr val="0D1F3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645920"/>
            <a:ext cx="26517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459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Woche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Produkt &amp; Zahlung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Stripe-Konto einrichten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Google Sheets API verbinden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1638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n8n Webhook-Automation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Landing Page live schalten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645920"/>
            <a:ext cx="2651760" cy="3017520"/>
          </a:xfrm>
          <a:prstGeom prst="rect">
            <a:avLst/>
          </a:prstGeom>
          <a:solidFill>
            <a:srgbClr val="0D1F30"/>
          </a:solidFill>
          <a:ln w="12700">
            <a:solidFill>
              <a:srgbClr val="E87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45920"/>
            <a:ext cx="2651760" cy="502920"/>
          </a:xfrm>
          <a:prstGeom prst="rect">
            <a:avLst/>
          </a:prstGeom>
          <a:solidFill>
            <a:srgbClr val="E87D45"/>
          </a:solidFill>
          <a:ln w="12700">
            <a:solidFill>
              <a:srgbClr val="E87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6459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Woche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Erste Kunden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D45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LinkedIn-Post (Beta-Aufruf)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D45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5 Steuerberater direkt ansprechen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1638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D45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Beta-Feedback einholen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602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D45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B0CDD8"/>
                </a:solidFill>
              </a:rPr>
              <a:t>Erster Zahlungseingang 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091520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E8B"/>
                </a:solidFill>
              </a:rPr>
              <a:t>Gewerbe-Anmeldung parallel in Woche 1  |  Kleinunternehmerregelung §19 UStG  |  0 € Startkapital nötig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WETTBEWERB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Blue Ocean: Kein direkter Wettbewerber mit dieser Datentiefe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463040"/>
                <a:gridCol w="82296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Anbieter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Abdeckung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Aktualisierung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Preis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Statistikportal.de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Teilweise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Jährlich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Kostenlos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4444"/>
                          </a:solidFill>
                        </a:rPr>
                        <a:t>❌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IHK-Portale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Regional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Unregelmäßig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Kostenlos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4444"/>
                          </a:solidFill>
                        </a:rPr>
                        <a:t>❌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Steuer-Software (DATEV)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Indirekt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Manuell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Teuer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4444"/>
                          </a:solidFill>
                        </a:rPr>
                        <a:t>❌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Manuelle Recherche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Variabel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Auf Anfrage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&gt;500€/h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4444"/>
                          </a:solidFill>
                        </a:rPr>
                        <a:t>❌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7B6C"/>
                          </a:solidFill>
                        </a:rPr>
                        <a:t>✅  Grundsteuer-Monitor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7B6C"/>
                          </a:solidFill>
                        </a:rPr>
                        <a:t>Alle 16 BL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7B6C"/>
                          </a:solidFill>
                        </a:rPr>
                        <a:t>Täglich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7B6C"/>
                          </a:solidFill>
                        </a:rPr>
                        <a:t>49–499€/Mo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7B6C"/>
                          </a:solidFill>
                        </a:rPr>
                        <a:t>✅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First-Mover-Vorteil: Wer jetzt startet, besetzt die Nische für Jahre.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D9E8B"/>
                </a:solidFill>
              </a:rPr>
              <a:t>ÜBER DEN GRÜNDER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463040" cy="1463040"/>
          </a:xfrm>
          <a:prstGeom prst="ellipse">
            <a:avLst/>
          </a:prstGeom>
          <a:solidFill>
            <a:srgbClr val="0A7B6C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Markus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8C0"/>
                </a:solidFill>
              </a:rPr>
              <a:t>SAP PP Consultant  |  KI-Enthusiast  |  Gründer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8D0"/>
                </a:solidFill>
              </a:rPr>
              <a:t>⚙️   Mehrjährige SAP-Beratungserfahrung im PP-Modul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8D0"/>
                </a:solidFill>
              </a:rPr>
              <a:t>🤖   KI-Automatisierung mit n8n, Python &amp; lokalen LLMs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8D0"/>
                </a:solidFill>
              </a:rPr>
              <a:t>📊   Tiefes Verständnis für Datenprozesse &amp; Business-Logik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8D0"/>
                </a:solidFill>
              </a:rPr>
              <a:t>🏠   Persönliche Betroffenheit durch Grundsteuerreform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822960"/>
            <a:ext cx="2423160" cy="4023360"/>
          </a:xfrm>
          <a:prstGeom prst="rect">
            <a:avLst/>
          </a:prstGeom>
          <a:solidFill>
            <a:srgbClr val="0D2237"/>
          </a:solidFill>
          <a:ln w="12700">
            <a:solidFill>
              <a:srgbClr val="0D9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960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E8B"/>
                </a:solidFill>
              </a:rPr>
              <a:t>Warum ich?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SAP-Netzwerk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zu Zielgruppe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3055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Technische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Umsetzung selbst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84378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Lean Start: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Kleingewerbe §19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55701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Mac Mini M4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already owned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📧  markus@grundsteuer-monitor.de  |  Interesse an Beta-Zugang oder Kooperation? Schreib mir.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3200400" cy="3200400"/>
          </a:xfrm>
          <a:prstGeom prst="ellipse">
            <a:avLst/>
          </a:prstGeom>
          <a:solidFill>
            <a:srgbClr val="091D2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486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A7B6C"/>
                </a:solidFill>
              </a:rPr>
              <a:t>€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EC8C0"/>
                </a:solidFill>
              </a:rPr>
              <a:t>Bereit für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den ersten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zahlenden Kunden?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2004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E8B"/>
                </a:solidFill>
              </a:rPr>
              <a:t>🚀  MVP in 3 Wochen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278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8C0"/>
                </a:solidFill>
              </a:rPr>
              <a:t>💼  Kleingewerbe sofort anmelden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210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8C0"/>
                </a:solidFill>
              </a:rPr>
              <a:t>📣  Beta-Kunden via LinkedIn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142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8C0"/>
                </a:solidFill>
              </a:rPr>
              <a:t>💰  Erster Stripe-Eingang in Woche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7B6C"/>
          </a:solidFill>
          <a:ln w="12700">
            <a:solidFill>
              <a:srgbClr val="0A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grundsteuer-monitor.de  |  markus@grundsteuer-monitor.de  |  März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Grundsteuer-Monitor – Pitch</dc:title>
  <dc:subject>PptxGenJS Presentation</dc:subject>
  <dc:creator>Markus</dc:creator>
  <cp:lastModifiedBy>Markus</cp:lastModifiedBy>
  <cp:revision>1</cp:revision>
  <dcterms:created xsi:type="dcterms:W3CDTF">2026-03-22T20:43:00Z</dcterms:created>
  <dcterms:modified xsi:type="dcterms:W3CDTF">2026-03-22T20:43:00Z</dcterms:modified>
</cp:coreProperties>
</file>